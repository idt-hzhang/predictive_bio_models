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9" r:id="rId5"/>
    <p:sldId id="270" r:id="rId6"/>
    <p:sldId id="271" r:id="rId7"/>
    <p:sldId id="273" r:id="rId8"/>
    <p:sldId id="27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AEAAB-10A8-19CD-2305-580FEC8E008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661537" y="6642100"/>
            <a:ext cx="18494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D89B2B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- Company Proprietary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chemeClr val="tx2"/>
                </a:solidFill>
              </a:rPr>
              <a:t>Predicting Fraction Collections with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Project Summary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0EB6CE09-6C3D-054C-CED0-6DFE9326BA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Approach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Binary classification model created using ML.NET</a:t>
            </a:r>
          </a:p>
          <a:p>
            <a:r>
              <a:rPr lang="en-US" sz="1600" dirty="0">
                <a:solidFill>
                  <a:schemeClr val="tx2"/>
                </a:solidFill>
              </a:rPr>
              <a:t>The following features were used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Max Absorbance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Method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Product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Presence of a post-synth sci mod on the oligo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Ship OD and ship nanomole guarantees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B9DBC-455E-7A56-AF58-ECDB828DA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Model statistics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3D1E6-CE5B-AE80-5736-583FD7DE5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Model ROC-AUC is </a:t>
            </a:r>
            <a:r>
              <a:rPr lang="en-US" sz="1600" b="1">
                <a:solidFill>
                  <a:schemeClr val="tx2"/>
                </a:solidFill>
              </a:rPr>
              <a:t>0.9001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1.0 is a perfect score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0.5 is the same accuracy as a coin flip</a:t>
            </a:r>
          </a:p>
          <a:p>
            <a:r>
              <a:rPr lang="en-US" sz="1600">
                <a:solidFill>
                  <a:schemeClr val="tx2"/>
                </a:solidFill>
              </a:rPr>
              <a:t>Model PR-AUC is </a:t>
            </a:r>
            <a:r>
              <a:rPr lang="en-US" sz="1600" b="1">
                <a:solidFill>
                  <a:schemeClr val="tx2"/>
                </a:solidFill>
              </a:rPr>
              <a:t>0.69</a:t>
            </a:r>
            <a:endParaRPr lang="en-US" sz="1600">
              <a:solidFill>
                <a:schemeClr val="tx2"/>
              </a:solidFill>
            </a:endParaRPr>
          </a:p>
          <a:p>
            <a:r>
              <a:rPr lang="en-US" sz="1600">
                <a:solidFill>
                  <a:schemeClr val="tx2"/>
                </a:solidFill>
              </a:rPr>
              <a:t>Model strongly favors catching positives</a:t>
            </a:r>
          </a:p>
          <a:p>
            <a:r>
              <a:rPr lang="en-US" sz="1600">
                <a:solidFill>
                  <a:schemeClr val="tx2"/>
                </a:solidFill>
              </a:rPr>
              <a:t>MaxAbsorbance is the dominant feature by a wide margin</a:t>
            </a:r>
          </a:p>
          <a:p>
            <a:r>
              <a:rPr lang="en-US" sz="1600">
                <a:solidFill>
                  <a:schemeClr val="tx2"/>
                </a:solidFill>
              </a:rPr>
              <a:t>The model ranks well overall but still produces many false positives on borderline absorbance values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3978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data</a:t>
            </a:r>
            <a:endParaRPr dirty="0"/>
          </a:p>
        </p:txBody>
      </p:sp>
      <p:pic>
        <p:nvPicPr>
          <p:cNvPr id="3" name="Picture 2" descr="mfg item id 813432813 chroma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7315200" cy="3106271"/>
          </a:xfrm>
          <a:prstGeom prst="rect">
            <a:avLst/>
          </a:prstGeom>
        </p:spPr>
      </p:pic>
      <p:pic>
        <p:nvPicPr>
          <p:cNvPr id="5" name="Picture 4" descr="mfg item id 813432813 fraction data.png">
            <a:extLst>
              <a:ext uri="{FF2B5EF4-FFF2-40B4-BE49-F238E27FC236}">
                <a16:creationId xmlns:a16="http://schemas.microsoft.com/office/drawing/2014/main" id="{54DE956B-9BA9-DFDC-9ED1-4F4AEC996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19050"/>
            <a:ext cx="7315200" cy="1094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E63A6-F1DF-9BF0-C688-FB49BD9D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C8496C-EC1A-B15A-0C52-94EE76A31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 prediction for positives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9BFCF-7817-A8AD-41B4-2818F7EA97BE}"/>
              </a:ext>
            </a:extLst>
          </p:cNvPr>
          <p:cNvSpPr txBox="1"/>
          <p:nvPr/>
        </p:nvSpPr>
        <p:spPr>
          <a:xfrm>
            <a:off x="308610" y="2684095"/>
            <a:ext cx="3332365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Using data for Vial 64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Absorbance is ~1400 (from peak height of chromatogram)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Model predicted true with a probability of 0.68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Matches HPLC operator decision</a:t>
            </a:r>
          </a:p>
        </p:txBody>
      </p:sp>
      <p:pic>
        <p:nvPicPr>
          <p:cNvPr id="6" name="Picture 5" descr="predicition positive case.png">
            <a:extLst>
              <a:ext uri="{FF2B5EF4-FFF2-40B4-BE49-F238E27FC236}">
                <a16:creationId xmlns:a16="http://schemas.microsoft.com/office/drawing/2014/main" id="{7C89A7B0-87E2-53FB-9851-B81068BBBA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77" r="46411"/>
          <a:stretch>
            <a:fillRect/>
          </a:stretch>
        </p:blipFill>
        <p:spPr>
          <a:xfrm>
            <a:off x="4039362" y="2195565"/>
            <a:ext cx="4830318" cy="241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08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42BB8-A5F0-B5E1-AF3A-04B6FC009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77B2A-771C-5E83-BA90-C18DF1C6C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 prediction for negatives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39A08-9CB1-B2FC-EC6F-E4231390D889}"/>
              </a:ext>
            </a:extLst>
          </p:cNvPr>
          <p:cNvSpPr txBox="1"/>
          <p:nvPr/>
        </p:nvSpPr>
        <p:spPr>
          <a:xfrm>
            <a:off x="308610" y="2684095"/>
            <a:ext cx="3332365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Using data for Vial 62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Absorbance is ~600 (from peak height of chromatogram)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Model predicted false with a probability of 0.2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Matches HPLC operator decision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3F0FC0-35A6-CCAE-D270-68A400F36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362" y="2196612"/>
            <a:ext cx="4830318" cy="240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5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67368-EC5A-2BAE-E4EE-1E2F29E7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E6127-6A55-E207-46B5-2663E588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 prediction for borderline case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FA4AA-8631-F859-E039-30FB0D39EB4E}"/>
              </a:ext>
            </a:extLst>
          </p:cNvPr>
          <p:cNvSpPr txBox="1"/>
          <p:nvPr/>
        </p:nvSpPr>
        <p:spPr>
          <a:xfrm>
            <a:off x="308610" y="2684095"/>
            <a:ext cx="3332365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Using data for Vial 63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Absorbance is ~1400 (from peak height of chromatogram)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Model predicted true with a probability of 0.68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Does not match </a:t>
            </a:r>
            <a:r>
              <a:rPr lang="en-US" sz="1600"/>
              <a:t>HPLC operator decision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Values for this vial matched vial 64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ED0BFB-9480-6A0D-BC2B-2A261BBF8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362" y="2118660"/>
            <a:ext cx="4830318" cy="256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051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061D1-F123-20DA-445D-750BA08A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Lessons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DD878-201C-4A6C-7BB5-6AB68AF10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1900"/>
              <a:t>Model accuracy gets better with more historical data and more features</a:t>
            </a:r>
          </a:p>
          <a:p>
            <a:r>
              <a:rPr lang="en-US" sz="1900"/>
              <a:t>A balanced data set leads to better models</a:t>
            </a:r>
          </a:p>
          <a:p>
            <a:r>
              <a:rPr lang="en-US" sz="1900"/>
              <a:t>A single dominant feature can dramatically influence models</a:t>
            </a:r>
          </a:p>
          <a:p>
            <a:r>
              <a:rPr lang="en-US" sz="1900"/>
              <a:t>Predictions can be compared to acceptable business thresholds</a:t>
            </a:r>
          </a:p>
          <a:p>
            <a:pPr lvl="1"/>
            <a:r>
              <a:rPr lang="en-US" sz="1900"/>
              <a:t>Example: a model can return true with a 0.55 probability, but HPLC can set their threshold to 0.7 to ensure selecting good predictions</a:t>
            </a:r>
          </a:p>
        </p:txBody>
      </p:sp>
    </p:spTree>
    <p:extLst>
      <p:ext uri="{BB962C8B-B14F-4D97-AF65-F5344CB8AC3E}">
        <p14:creationId xmlns:p14="http://schemas.microsoft.com/office/powerpoint/2010/main" val="839425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263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Predicting Fraction Collections with Machine Learning</vt:lpstr>
      <vt:lpstr>Approach</vt:lpstr>
      <vt:lpstr>Model statistics</vt:lpstr>
      <vt:lpstr>Test data</vt:lpstr>
      <vt:lpstr>Test prediction for positives</vt:lpstr>
      <vt:lpstr>Test prediction for negatives</vt:lpstr>
      <vt:lpstr>Test prediction for borderline case</vt:lpstr>
      <vt:lpstr>Lessons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Volker, Joseph</cp:lastModifiedBy>
  <cp:revision>21</cp:revision>
  <dcterms:created xsi:type="dcterms:W3CDTF">2013-01-27T09:14:16Z</dcterms:created>
  <dcterms:modified xsi:type="dcterms:W3CDTF">2026-06-04T18:23:04Z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8041ff-f5de-4583-8841-e2a1851ee5d2_Enabled">
    <vt:lpwstr>true</vt:lpwstr>
  </property>
  <property fmtid="{D5CDD505-2E9C-101B-9397-08002B2CF9AE}" pid="3" name="MSIP_Label_f48041ff-f5de-4583-8841-e2a1851ee5d2_SetDate">
    <vt:lpwstr>2026-06-04T17:10:57Z</vt:lpwstr>
  </property>
  <property fmtid="{D5CDD505-2E9C-101B-9397-08002B2CF9AE}" pid="4" name="MSIP_Label_f48041ff-f5de-4583-8841-e2a1851ee5d2_Method">
    <vt:lpwstr>Privileged</vt:lpwstr>
  </property>
  <property fmtid="{D5CDD505-2E9C-101B-9397-08002B2CF9AE}" pid="5" name="MSIP_Label_f48041ff-f5de-4583-8841-e2a1851ee5d2_Name">
    <vt:lpwstr>Confidential</vt:lpwstr>
  </property>
  <property fmtid="{D5CDD505-2E9C-101B-9397-08002B2CF9AE}" pid="6" name="MSIP_Label_f48041ff-f5de-4583-8841-e2a1851ee5d2_SiteId">
    <vt:lpwstr>771c9c47-7f24-44dc-958e-34f8713a8394</vt:lpwstr>
  </property>
  <property fmtid="{D5CDD505-2E9C-101B-9397-08002B2CF9AE}" pid="7" name="MSIP_Label_f48041ff-f5de-4583-8841-e2a1851ee5d2_ActionId">
    <vt:lpwstr>a91d125c-3493-42b2-8007-752382035dac</vt:lpwstr>
  </property>
  <property fmtid="{D5CDD505-2E9C-101B-9397-08002B2CF9AE}" pid="8" name="MSIP_Label_f48041ff-f5de-4583-8841-e2a1851ee5d2_ContentBits">
    <vt:lpwstr>2</vt:lpwstr>
  </property>
  <property fmtid="{D5CDD505-2E9C-101B-9397-08002B2CF9AE}" pid="9" name="MSIP_Label_f48041ff-f5de-4583-8841-e2a1851ee5d2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- Company Proprietary</vt:lpwstr>
  </property>
</Properties>
</file>