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59" r:id="rId5"/>
    <p:sldId id="270" r:id="rId6"/>
    <p:sldId id="271" r:id="rId7"/>
    <p:sldId id="273" r:id="rId8"/>
    <p:sldId id="272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121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6AEAAB-10A8-19CD-2305-580FEC8E008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661537" y="6642100"/>
            <a:ext cx="184943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D89B2B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Confidential - Company Proprietary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Predicting Fraction Collections with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Project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Binary classification model created using ML.NET</a:t>
            </a:r>
          </a:p>
          <a:p>
            <a:r>
              <a:rPr lang="en-US" dirty="0"/>
              <a:t>The following features were used</a:t>
            </a:r>
          </a:p>
          <a:p>
            <a:pPr lvl="1"/>
            <a:r>
              <a:rPr lang="en-US" dirty="0"/>
              <a:t>Max Absorbance</a:t>
            </a:r>
          </a:p>
          <a:p>
            <a:pPr lvl="1"/>
            <a:r>
              <a:rPr lang="en-US" dirty="0"/>
              <a:t>Method</a:t>
            </a:r>
          </a:p>
          <a:p>
            <a:pPr lvl="1"/>
            <a:r>
              <a:rPr lang="en-US" dirty="0"/>
              <a:t>Product</a:t>
            </a:r>
          </a:p>
          <a:p>
            <a:pPr lvl="1"/>
            <a:r>
              <a:rPr lang="en-US" dirty="0"/>
              <a:t>A post-synth sci mod is present on the oligo</a:t>
            </a:r>
          </a:p>
          <a:p>
            <a:pPr lvl="1"/>
            <a:r>
              <a:rPr lang="en-US" dirty="0"/>
              <a:t>Ship OD and ship nanomole guarantees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B9DBC-455E-7A56-AF58-ECDB828DA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3D1E6-CE5B-AE80-5736-583FD7DE5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Model ROC-AUC is </a:t>
            </a:r>
            <a:r>
              <a:rPr lang="en-US" b="1" dirty="0"/>
              <a:t>0.9001</a:t>
            </a:r>
          </a:p>
          <a:p>
            <a:pPr lvl="1"/>
            <a:r>
              <a:rPr lang="en-US" dirty="0"/>
              <a:t>1.0 is a perfect score</a:t>
            </a:r>
          </a:p>
          <a:p>
            <a:pPr lvl="1"/>
            <a:r>
              <a:rPr lang="en-US" dirty="0"/>
              <a:t>0.5 is the same accuracy as a coin flip</a:t>
            </a:r>
          </a:p>
          <a:p>
            <a:r>
              <a:rPr lang="en-US" dirty="0"/>
              <a:t>Model PR-AUC is </a:t>
            </a:r>
            <a:r>
              <a:rPr lang="en-US" b="1" dirty="0"/>
              <a:t>0.69</a:t>
            </a:r>
            <a:endParaRPr lang="en-US" dirty="0"/>
          </a:p>
          <a:p>
            <a:r>
              <a:rPr lang="en-US" dirty="0"/>
              <a:t>Model strongly favors catching positives</a:t>
            </a:r>
          </a:p>
          <a:p>
            <a:r>
              <a:rPr lang="en-US" dirty="0" err="1"/>
              <a:t>MaxAbsorbance</a:t>
            </a:r>
            <a:r>
              <a:rPr lang="en-US" dirty="0"/>
              <a:t> is the dominant feature by a wide margin</a:t>
            </a:r>
          </a:p>
          <a:p>
            <a:r>
              <a:rPr lang="en-US" dirty="0"/>
              <a:t>The model ranks well overall but still produces many false positives on borderline absorbance values</a:t>
            </a:r>
          </a:p>
        </p:txBody>
      </p:sp>
    </p:spTree>
    <p:extLst>
      <p:ext uri="{BB962C8B-B14F-4D97-AF65-F5344CB8AC3E}">
        <p14:creationId xmlns:p14="http://schemas.microsoft.com/office/powerpoint/2010/main" val="2793978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data</a:t>
            </a:r>
            <a:endParaRPr dirty="0"/>
          </a:p>
        </p:txBody>
      </p:sp>
      <p:pic>
        <p:nvPicPr>
          <p:cNvPr id="3" name="Picture 2" descr="mfg item id 813432813 chroma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29000"/>
            <a:ext cx="7315200" cy="3106271"/>
          </a:xfrm>
          <a:prstGeom prst="rect">
            <a:avLst/>
          </a:prstGeom>
        </p:spPr>
      </p:pic>
      <p:pic>
        <p:nvPicPr>
          <p:cNvPr id="5" name="Picture 4" descr="mfg item id 813432813 fraction data.png">
            <a:extLst>
              <a:ext uri="{FF2B5EF4-FFF2-40B4-BE49-F238E27FC236}">
                <a16:creationId xmlns:a16="http://schemas.microsoft.com/office/drawing/2014/main" id="{54DE956B-9BA9-DFDC-9ED1-4F4AEC996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19050"/>
            <a:ext cx="7315200" cy="10949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E63A6-F1DF-9BF0-C688-FB49BD9D9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8496C-EC1A-B15A-0C52-94EE76A31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prediction for positives</a:t>
            </a:r>
            <a:endParaRPr dirty="0"/>
          </a:p>
        </p:txBody>
      </p:sp>
      <p:pic>
        <p:nvPicPr>
          <p:cNvPr id="5" name="Picture 4" descr="mfg item id 813432813 fraction data.png">
            <a:extLst>
              <a:ext uri="{FF2B5EF4-FFF2-40B4-BE49-F238E27FC236}">
                <a16:creationId xmlns:a16="http://schemas.microsoft.com/office/drawing/2014/main" id="{68247CB4-623B-16F7-A024-96CB97BF2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98" y="1684158"/>
            <a:ext cx="8084495" cy="12100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B9BFCF-7817-A8AD-41B4-2818F7EA97BE}"/>
              </a:ext>
            </a:extLst>
          </p:cNvPr>
          <p:cNvSpPr txBox="1"/>
          <p:nvPr/>
        </p:nvSpPr>
        <p:spPr>
          <a:xfrm>
            <a:off x="553673" y="3271706"/>
            <a:ext cx="63652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data for Vial 64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Absorbance is ~1400 (from peak height of chromatogram)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predicted true with a probability of 0.68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Matches HPLC operator decision</a:t>
            </a:r>
          </a:p>
        </p:txBody>
      </p:sp>
      <p:pic>
        <p:nvPicPr>
          <p:cNvPr id="6" name="Picture 5" descr="predicition positive case.png">
            <a:extLst>
              <a:ext uri="{FF2B5EF4-FFF2-40B4-BE49-F238E27FC236}">
                <a16:creationId xmlns:a16="http://schemas.microsoft.com/office/drawing/2014/main" id="{7C89A7B0-87E2-53FB-9851-B81068BBBA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177" r="46411"/>
          <a:stretch>
            <a:fillRect/>
          </a:stretch>
        </p:blipFill>
        <p:spPr>
          <a:xfrm>
            <a:off x="4773337" y="4472035"/>
            <a:ext cx="3943764" cy="1969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408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42BB8-A5F0-B5E1-AF3A-04B6FC009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77B2A-771C-5E83-BA90-C18DF1C6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prediction for negatives</a:t>
            </a:r>
            <a:endParaRPr dirty="0"/>
          </a:p>
        </p:txBody>
      </p:sp>
      <p:pic>
        <p:nvPicPr>
          <p:cNvPr id="5" name="Picture 4" descr="mfg item id 813432813 fraction data.png">
            <a:extLst>
              <a:ext uri="{FF2B5EF4-FFF2-40B4-BE49-F238E27FC236}">
                <a16:creationId xmlns:a16="http://schemas.microsoft.com/office/drawing/2014/main" id="{94610196-BA67-820D-AFE5-7C6BD7E1F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98" y="1684158"/>
            <a:ext cx="8084495" cy="12100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239A08-9CB1-B2FC-EC6F-E4231390D889}"/>
              </a:ext>
            </a:extLst>
          </p:cNvPr>
          <p:cNvSpPr txBox="1"/>
          <p:nvPr/>
        </p:nvSpPr>
        <p:spPr>
          <a:xfrm>
            <a:off x="553673" y="3271706"/>
            <a:ext cx="62482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data for Vial 62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Absorbance is ~600 (from peak height of chromatogram)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predicted false with a probability of 0.2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Matches HPLC operator decision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3F0FC0-35A6-CCAE-D270-68A400F36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656" y="4303551"/>
            <a:ext cx="3978315" cy="1984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05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67368-EC5A-2BAE-E4EE-1E2F29E72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E6127-6A55-E207-46B5-2663E588B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prediction for borderline case</a:t>
            </a:r>
            <a:endParaRPr dirty="0"/>
          </a:p>
        </p:txBody>
      </p:sp>
      <p:pic>
        <p:nvPicPr>
          <p:cNvPr id="5" name="Picture 4" descr="mfg item id 813432813 fraction data.png">
            <a:extLst>
              <a:ext uri="{FF2B5EF4-FFF2-40B4-BE49-F238E27FC236}">
                <a16:creationId xmlns:a16="http://schemas.microsoft.com/office/drawing/2014/main" id="{E857B2C3-4C5D-552E-AF9F-625C67C79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98" y="1684158"/>
            <a:ext cx="8084495" cy="12100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6FA4AA-8631-F859-E039-30FB0D39EB4E}"/>
              </a:ext>
            </a:extLst>
          </p:cNvPr>
          <p:cNvSpPr txBox="1"/>
          <p:nvPr/>
        </p:nvSpPr>
        <p:spPr>
          <a:xfrm>
            <a:off x="553673" y="3271706"/>
            <a:ext cx="636526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data for Vial 63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Absorbance is ~1400 (from peak height of chromatogram)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predicted true with a probability of 0.68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Does not match </a:t>
            </a:r>
            <a:r>
              <a:rPr lang="en-US" dirty="0"/>
              <a:t>HPLC operator decision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Values for this vial matched vial 64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ED0BFB-9480-6A0D-BC2B-2A261BBF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030" y="4405449"/>
            <a:ext cx="3677163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051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061D1-F123-20DA-445D-750BA08AC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DD878-201C-4A6C-7BB5-6AB68AF106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Model accuracy gets better with more historical data and more features</a:t>
            </a:r>
          </a:p>
          <a:p>
            <a:r>
              <a:rPr lang="en-US" dirty="0"/>
              <a:t>A balanced data set leads to better models</a:t>
            </a:r>
          </a:p>
          <a:p>
            <a:r>
              <a:rPr lang="en-US" dirty="0"/>
              <a:t>A single dominant feature can dramatically influence models</a:t>
            </a:r>
          </a:p>
          <a:p>
            <a:r>
              <a:rPr lang="en-US" dirty="0"/>
              <a:t>Predictions can be compared to acceptable business thresholds</a:t>
            </a:r>
          </a:p>
          <a:p>
            <a:pPr lvl="1"/>
            <a:r>
              <a:rPr lang="en-US" dirty="0"/>
              <a:t>Example: a model can return true with a 0.55 probability, but HPLC can set their threshold to 0.7 to ensure selecting good predictions</a:t>
            </a:r>
          </a:p>
        </p:txBody>
      </p:sp>
    </p:spTree>
    <p:extLst>
      <p:ext uri="{BB962C8B-B14F-4D97-AF65-F5344CB8AC3E}">
        <p14:creationId xmlns:p14="http://schemas.microsoft.com/office/powerpoint/2010/main" val="839425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263</Words>
  <Application>Microsoft Office PowerPoint</Application>
  <PresentationFormat>On-screen Show (4:3)</PresentationFormat>
  <Paragraphs>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Predicting Fraction Collections with Machine Learning</vt:lpstr>
      <vt:lpstr>Approach</vt:lpstr>
      <vt:lpstr>Model statistics</vt:lpstr>
      <vt:lpstr>Test data</vt:lpstr>
      <vt:lpstr>Test prediction for positives</vt:lpstr>
      <vt:lpstr>Test prediction for negatives</vt:lpstr>
      <vt:lpstr>Test prediction for borderline case</vt:lpstr>
      <vt:lpstr>Lessons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Volker, Joseph</cp:lastModifiedBy>
  <cp:revision>19</cp:revision>
  <dcterms:created xsi:type="dcterms:W3CDTF">2013-01-27T09:14:16Z</dcterms:created>
  <dcterms:modified xsi:type="dcterms:W3CDTF">2026-06-04T17:55:09Z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8041ff-f5de-4583-8841-e2a1851ee5d2_Enabled">
    <vt:lpwstr>true</vt:lpwstr>
  </property>
  <property fmtid="{D5CDD505-2E9C-101B-9397-08002B2CF9AE}" pid="3" name="MSIP_Label_f48041ff-f5de-4583-8841-e2a1851ee5d2_SetDate">
    <vt:lpwstr>2026-06-04T17:10:57Z</vt:lpwstr>
  </property>
  <property fmtid="{D5CDD505-2E9C-101B-9397-08002B2CF9AE}" pid="4" name="MSIP_Label_f48041ff-f5de-4583-8841-e2a1851ee5d2_Method">
    <vt:lpwstr>Privileged</vt:lpwstr>
  </property>
  <property fmtid="{D5CDD505-2E9C-101B-9397-08002B2CF9AE}" pid="5" name="MSIP_Label_f48041ff-f5de-4583-8841-e2a1851ee5d2_Name">
    <vt:lpwstr>Confidential</vt:lpwstr>
  </property>
  <property fmtid="{D5CDD505-2E9C-101B-9397-08002B2CF9AE}" pid="6" name="MSIP_Label_f48041ff-f5de-4583-8841-e2a1851ee5d2_SiteId">
    <vt:lpwstr>771c9c47-7f24-44dc-958e-34f8713a8394</vt:lpwstr>
  </property>
  <property fmtid="{D5CDD505-2E9C-101B-9397-08002B2CF9AE}" pid="7" name="MSIP_Label_f48041ff-f5de-4583-8841-e2a1851ee5d2_ActionId">
    <vt:lpwstr>a91d125c-3493-42b2-8007-752382035dac</vt:lpwstr>
  </property>
  <property fmtid="{D5CDD505-2E9C-101B-9397-08002B2CF9AE}" pid="8" name="MSIP_Label_f48041ff-f5de-4583-8841-e2a1851ee5d2_ContentBits">
    <vt:lpwstr>2</vt:lpwstr>
  </property>
  <property fmtid="{D5CDD505-2E9C-101B-9397-08002B2CF9AE}" pid="9" name="MSIP_Label_f48041ff-f5de-4583-8841-e2a1851ee5d2_Tag">
    <vt:lpwstr>10, 0, 1, 1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Confidential - Company Proprietary</vt:lpwstr>
  </property>
</Properties>
</file>