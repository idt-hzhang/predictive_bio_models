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36208"/>
            <a:ext cx="12191695" cy="164592"/>
          </a:xfrm>
          <a:prstGeom prst="rect">
            <a:avLst/>
          </a:prstGeom>
          <a:solidFill>
            <a:srgbClr val="1C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804672"/>
            <a:ext cx="1088136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Aptos"/>
              </a:rPr>
              <a:t>sgRNA Synthesizability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75104"/>
            <a:ext cx="987552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0">
                <a:solidFill>
                  <a:srgbClr val="DEE8E2"/>
                </a:solidFill>
                <a:latin typeface="Aptos"/>
              </a:rPr>
              <a:t>Modeling sequence-derived risk signals for HPLC QC review prioritization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246120"/>
            <a:ext cx="2926080" cy="1234440"/>
          </a:xfrm>
          <a:prstGeom prst="roundRect">
            <a:avLst/>
          </a:prstGeom>
          <a:solidFill>
            <a:srgbClr val="EEF4EB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383280"/>
            <a:ext cx="267004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82330"/>
                </a:solidFill>
                <a:latin typeface="Aptos"/>
              </a:rPr>
              <a:t>6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767327"/>
            <a:ext cx="267004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5B697A"/>
                </a:solidFill>
                <a:latin typeface="Aptos"/>
              </a:rPr>
              <a:t>modeling 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4114800"/>
            <a:ext cx="2596896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B697A"/>
                </a:solidFill>
                <a:latin typeface="Aptos"/>
              </a:rPr>
              <a:t>one title page plus five concise content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3246120"/>
            <a:ext cx="2926080" cy="1234440"/>
          </a:xfrm>
          <a:prstGeom prst="roundRect">
            <a:avLst/>
          </a:prstGeom>
          <a:solidFill>
            <a:srgbClr val="F0F3F9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3383280"/>
            <a:ext cx="267004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82330"/>
                </a:solidFill>
                <a:latin typeface="Aptos"/>
              </a:rPr>
              <a:t>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3767327"/>
            <a:ext cx="267004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5B697A"/>
                </a:solidFill>
                <a:latin typeface="Aptos"/>
              </a:rPr>
              <a:t>input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4114800"/>
            <a:ext cx="2596896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B697A"/>
                </a:solidFill>
                <a:latin typeface="Aptos"/>
              </a:rPr>
              <a:t>decorated sgRNA chemistry parsed into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246120"/>
            <a:ext cx="2926080" cy="1234440"/>
          </a:xfrm>
          <a:prstGeom prst="roundRect">
            <a:avLst/>
          </a:prstGeom>
          <a:solidFill>
            <a:srgbClr val="F4EFE5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3383280"/>
            <a:ext cx="267004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82330"/>
                </a:solidFill>
                <a:latin typeface="Aptos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767327"/>
            <a:ext cx="267004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5B697A"/>
                </a:solidFill>
                <a:latin typeface="Aptos"/>
              </a:rPr>
              <a:t>decision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4114800"/>
            <a:ext cx="2596896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B697A"/>
                </a:solidFill>
                <a:latin typeface="Aptos"/>
              </a:rPr>
              <a:t>rank designs for QC risk follow-up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182330"/>
                </a:solidFill>
                <a:latin typeface="Aptos"/>
              </a:rPr>
              <a:t>Background, Problem, and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87552"/>
            <a:ext cx="1078992" cy="54864"/>
          </a:xfrm>
          <a:prstGeom prst="rect">
            <a:avLst/>
          </a:prstGeom>
          <a:solidFill>
            <a:srgbClr val="1C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0">
                <a:solidFill>
                  <a:srgbClr val="5B697A"/>
                </a:solidFill>
                <a:latin typeface="Aptos"/>
              </a:rPr>
              <a:t>Scientific context, operational need, and hackathon deliverables.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3246120" cy="1170432"/>
          </a:xfrm>
          <a:prstGeom prst="roundRect">
            <a:avLst/>
          </a:prstGeom>
          <a:solidFill>
            <a:srgbClr val="EAF4F2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291693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C8463"/>
                </a:solidFill>
                <a:latin typeface="Aptos"/>
              </a:rPr>
              <a:t>Scientific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2916936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82330"/>
                </a:solidFill>
                <a:latin typeface="Aptos"/>
              </a:rPr>
              <a:t>Decorated sgRNAs combine RNA sequence, base chemistry, and backbone modifications that can affect synthesis purity.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417320"/>
            <a:ext cx="3246120" cy="1170432"/>
          </a:xfrm>
          <a:prstGeom prst="roundRect">
            <a:avLst/>
          </a:prstGeom>
          <a:solidFill>
            <a:srgbClr val="F4EFE5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563624"/>
            <a:ext cx="291693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C8463"/>
                </a:solidFill>
                <a:latin typeface="Aptos"/>
              </a:rPr>
              <a:t>Operational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1892808"/>
            <a:ext cx="2916936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82330"/>
                </a:solidFill>
                <a:latin typeface="Aptos"/>
              </a:rPr>
              <a:t>HPLC QC failures create review, remake, and delivery-risk decisions after designs have already entered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417320"/>
            <a:ext cx="3246120" cy="1170432"/>
          </a:xfrm>
          <a:prstGeom prst="roundRect">
            <a:avLst/>
          </a:prstGeom>
          <a:solidFill>
            <a:srgbClr val="F0F3F9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563624"/>
            <a:ext cx="291693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C8463"/>
                </a:solidFill>
                <a:latin typeface="Aptos"/>
              </a:rPr>
              <a:t>Prediction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1892808"/>
            <a:ext cx="2916936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82330"/>
                </a:solidFill>
                <a:latin typeface="Aptos"/>
              </a:rPr>
              <a:t>Given a decorated sgRNA sequence, estimate risk of HPLC QC failure or low purity before QC is complete.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10149840" cy="1508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0">
                <a:solidFill>
                  <a:srgbClr val="182330"/>
                </a:solidFill>
                <a:latin typeface="Aptos"/>
              </a:rPr>
              <a:t>Hackathon goal: build a reproducible feature and modeling workflow that turns decorated sequence text into presentation-ready risk evidence.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0">
                <a:solidFill>
                  <a:srgbClr val="182330"/>
                </a:solidFill>
                <a:latin typeface="Aptos"/>
              </a:rPr>
              <a:t>Decision goal: support review prioritization and feature insight rather than automated release decisions.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0">
                <a:solidFill>
                  <a:srgbClr val="182330"/>
                </a:solidFill>
                <a:latin typeface="Aptos"/>
              </a:rPr>
              <a:t>Scientific goal: identify interpretable sequence-chemistry patterns associated with QC and purity outcomes.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8229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B697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182330"/>
                </a:solidFill>
                <a:latin typeface="Aptos"/>
              </a:rPr>
              <a:t>Data, Feature Families, and Modeling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87552"/>
            <a:ext cx="1078992" cy="54864"/>
          </a:xfrm>
          <a:prstGeom prst="rect">
            <a:avLst/>
          </a:prstGeom>
          <a:solidFill>
            <a:srgbClr val="1C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0">
                <a:solidFill>
                  <a:srgbClr val="5B697A"/>
                </a:solidFill>
                <a:latin typeface="Aptos"/>
              </a:rPr>
              <a:t>Problem scale, feature families, and the best-performing model families.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417320"/>
            <a:ext cx="2057400" cy="1143000"/>
          </a:xfrm>
          <a:prstGeom prst="roundRect">
            <a:avLst/>
          </a:prstGeom>
          <a:solidFill>
            <a:srgbClr val="EEF4EB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80136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82330"/>
                </a:solidFill>
                <a:latin typeface="Aptos"/>
              </a:rPr>
              <a:t>2,646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38527"/>
            <a:ext cx="180136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5B697A"/>
                </a:solidFill>
                <a:latin typeface="Aptos"/>
              </a:rPr>
              <a:t>binary-labeled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86000"/>
            <a:ext cx="1728216" cy="2103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B697A"/>
                </a:solidFill>
                <a:latin typeface="Aptos"/>
              </a:rPr>
              <a:t>source Pass/Fail endpoint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417320"/>
            <a:ext cx="2057400" cy="1143000"/>
          </a:xfrm>
          <a:prstGeom prst="roundRect">
            <a:avLst/>
          </a:prstGeom>
          <a:solidFill>
            <a:srgbClr val="F7EBE8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9816" y="1554480"/>
            <a:ext cx="180136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82330"/>
                </a:solidFill>
                <a:latin typeface="Aptos"/>
              </a:rPr>
              <a:t>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9816" y="1938527"/>
            <a:ext cx="180136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5B697A"/>
                </a:solidFill>
                <a:latin typeface="Aptos"/>
              </a:rPr>
              <a:t>source Fail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2286000"/>
            <a:ext cx="1728216" cy="2103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B697A"/>
                </a:solidFill>
                <a:latin typeface="Aptos"/>
              </a:rPr>
              <a:t>3.25% baseline failure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48656" y="1417320"/>
            <a:ext cx="2057400" cy="1143000"/>
          </a:xfrm>
          <a:prstGeom prst="roundRect">
            <a:avLst/>
          </a:prstGeom>
          <a:solidFill>
            <a:srgbClr val="F0F3F9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1554480"/>
            <a:ext cx="180136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82330"/>
                </a:solidFill>
                <a:latin typeface="Aptos"/>
              </a:rPr>
              <a:t>161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1938527"/>
            <a:ext cx="180136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5B697A"/>
                </a:solidFill>
                <a:latin typeface="Aptos"/>
              </a:rP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286000"/>
            <a:ext cx="1728216" cy="2103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B697A"/>
                </a:solidFill>
                <a:latin typeface="Aptos"/>
              </a:rPr>
              <a:t>sequence-derived numeric inputs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1417320"/>
            <a:ext cx="2057400" cy="1143000"/>
          </a:xfrm>
          <a:prstGeom prst="roundRect">
            <a:avLst/>
          </a:prstGeom>
          <a:solidFill>
            <a:srgbClr val="F4EFE5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1554480"/>
            <a:ext cx="180136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82330"/>
                </a:solidFill>
                <a:latin typeface="Aptos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1938527"/>
            <a:ext cx="180136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5B697A"/>
                </a:solidFill>
                <a:latin typeface="Aptos"/>
              </a:rPr>
              <a:t>compact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2286000"/>
            <a:ext cx="1728216" cy="2103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B697A"/>
                </a:solidFill>
                <a:latin typeface="Aptos"/>
              </a:rPr>
              <a:t>readable cross-endpoint signals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02368" y="1417320"/>
            <a:ext cx="1645920" cy="1143000"/>
          </a:xfrm>
          <a:prstGeom prst="roundRect">
            <a:avLst/>
          </a:prstGeom>
          <a:solidFill>
            <a:srgbClr val="EAF4F2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0384" y="1554480"/>
            <a:ext cx="138988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82330"/>
                </a:solidFill>
                <a:latin typeface="Aptos"/>
              </a:rPr>
              <a:t>5-fold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0384" y="1938527"/>
            <a:ext cx="1389888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5B697A"/>
                </a:solidFill>
                <a:latin typeface="Aptos"/>
              </a:rPr>
              <a:t>CV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286000"/>
            <a:ext cx="1316736" cy="2103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B697A"/>
                </a:solidFill>
                <a:latin typeface="Aptos"/>
              </a:rPr>
              <a:t>grouped by sequence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944368"/>
            <a:ext cx="10241280" cy="2240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82330"/>
                </a:solidFill>
                <a:latin typeface="Aptos"/>
              </a:rPr>
              <a:t>Feature families: sequence size, base composition, motif and run structure, modification burden, positional chemistry, and parser completeness.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82330"/>
                </a:solidFill>
                <a:latin typeface="Aptos"/>
              </a:rPr>
              <a:t>Best-performing classifiers: correlation-pruned Histogram Gradient Boosting for source Pass/Fail and formula-derived Need_Review.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82330"/>
                </a:solidFill>
                <a:latin typeface="Aptos"/>
              </a:rPr>
              <a:t>Best-performing purity model: ExtraTrees regression on full sequence-derived features; top-40 reduced features are close behind.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349240"/>
            <a:ext cx="10149840" cy="658368"/>
          </a:xfrm>
          <a:prstGeom prst="roundRect">
            <a:avLst/>
          </a:prstGeom>
          <a:solidFill>
            <a:srgbClr val="EAF4F2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495544"/>
            <a:ext cx="982065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C8463"/>
                </a:solidFill>
                <a:latin typeface="Aptos"/>
              </a:rPr>
              <a:t>Parser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5824728"/>
            <a:ext cx="9820656" cy="91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82330"/>
                </a:solidFill>
                <a:latin typeface="Aptos"/>
              </a:rPr>
              <a:t>+A, +C, +G, +U, and +T are interpreted as LNA nucleotides before feature extraction.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8229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B697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182330"/>
                </a:solidFill>
                <a:latin typeface="Aptos"/>
              </a:rPr>
              <a:t>Key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87552"/>
            <a:ext cx="1078992" cy="54864"/>
          </a:xfrm>
          <a:prstGeom prst="rect">
            <a:avLst/>
          </a:prstGeom>
          <a:solidFill>
            <a:srgbClr val="1C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0">
                <a:solidFill>
                  <a:srgbClr val="5B697A"/>
                </a:solidFill>
                <a:latin typeface="Aptos"/>
              </a:rPr>
              <a:t>Classification-compatible metrics for the best current model or feature set by endpoint.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417320"/>
          <a:ext cx="1010412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703320"/>
                <a:gridCol w="1417320"/>
                <a:gridCol w="1417320"/>
                <a:gridCol w="1600200"/>
              </a:tblGrid>
              <a:tr h="6074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Endpoint</a:t>
                      </a:r>
                    </a:p>
                  </a:txBody>
                  <a:tcPr>
                    <a:solidFill>
                      <a:srgbClr val="1F30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Best current model / feature set</a:t>
                      </a:r>
                    </a:p>
                  </a:txBody>
                  <a:tcPr>
                    <a:solidFill>
                      <a:srgbClr val="1F30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PR-AUC</a:t>
                      </a:r>
                    </a:p>
                  </a:txBody>
                  <a:tcPr>
                    <a:solidFill>
                      <a:srgbClr val="1F30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ROC AUC</a:t>
                      </a:r>
                    </a:p>
                  </a:txBody>
                  <a:tcPr>
                    <a:solidFill>
                      <a:srgbClr val="1F30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F1 score</a:t>
                      </a:r>
                    </a:p>
                  </a:txBody>
                  <a:tcPr>
                    <a:solidFill>
                      <a:srgbClr val="1F303C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82330"/>
                          </a:solidFill>
                          <a:latin typeface="Aptos"/>
                        </a:rPr>
                        <a:t>Source Pass/Fail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71-feature correlation-pruned HGB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0.1139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0.6529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0.0800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82330"/>
                          </a:solidFill>
                          <a:latin typeface="Aptos"/>
                        </a:rPr>
                        <a:t>Full-feature Pass/Fail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161-feature HGB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0.1087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0.6304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0.1165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82330"/>
                          </a:solidFill>
                          <a:latin typeface="Aptos"/>
                        </a:rPr>
                        <a:t>Formula Need_Review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71-feature correlation-pruned HGB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0.4082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0.7719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0.3467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82330"/>
                          </a:solidFill>
                          <a:latin typeface="Aptos"/>
                        </a:rPr>
                        <a:t>MainPeak-derived Pass/Fail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Elastic-net MainPeak regressor + rule threshold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0.1069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0.6217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0.1212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82330"/>
                          </a:solidFill>
                          <a:latin typeface="Aptos"/>
                        </a:rPr>
                        <a:t>Compact 9-feature Pass/Fail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9-feature L1 logistic panel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0.1078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0.5483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0.0693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82330"/>
                          </a:solidFill>
                          <a:latin typeface="Aptos"/>
                        </a:rPr>
                        <a:t>Compact 9-feature Need_Review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9-feature HGB panel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0.3749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0.7677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2330"/>
                          </a:solidFill>
                          <a:latin typeface="Aptos"/>
                        </a:rPr>
                        <a:t>0.3529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806440"/>
            <a:ext cx="10378440" cy="502920"/>
          </a:xfrm>
          <a:prstGeom prst="roundRect">
            <a:avLst/>
          </a:prstGeom>
          <a:solidFill>
            <a:srgbClr val="F4EFE5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5952744"/>
            <a:ext cx="1004925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C8463"/>
                </a:solidFill>
                <a:latin typeface="Aptos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6281928"/>
            <a:ext cx="10049256" cy="-640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82330"/>
                </a:solidFill>
                <a:latin typeface="Aptos"/>
              </a:rPr>
              <a:t>Need_Review is the strongest classification endpoint; source Pass/Fail remains a rare-event ranking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8229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B697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182330"/>
                </a:solidFill>
                <a:latin typeface="Aptos"/>
              </a:rPr>
              <a:t>Feature Insights and Purity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87552"/>
            <a:ext cx="1078992" cy="54864"/>
          </a:xfrm>
          <a:prstGeom prst="rect">
            <a:avLst/>
          </a:prstGeom>
          <a:solidFill>
            <a:srgbClr val="1C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0">
                <a:solidFill>
                  <a:srgbClr val="5B697A"/>
                </a:solidFill>
                <a:latin typeface="Aptos"/>
              </a:rPr>
              <a:t>MainPeak prediction gives a quantitative view of sequence-derived purity signal.</a:t>
            </a:r>
          </a:p>
        </p:txBody>
      </p:sp>
      <p:pic>
        <p:nvPicPr>
          <p:cNvPr id="5" name="Picture 4" descr="presentation_mainpeak_observed_predicted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81328"/>
            <a:ext cx="5166360" cy="3296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63640" y="1444752"/>
            <a:ext cx="4983480" cy="14813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82330"/>
                </a:solidFill>
                <a:latin typeface="Aptos"/>
              </a:rPr>
              <a:t>The observed-vs-predicted plot uses full-feature ExtraTrees MainPeak predictions with a fitted regression line and a perfect-prediction reference.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82330"/>
                </a:solidFill>
                <a:latin typeface="Aptos"/>
              </a:rPr>
              <a:t>MainPeak keeps quantitative purity information that binary Pass/Fail labels discard.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82330"/>
                </a:solidFill>
                <a:latin typeface="Aptos"/>
              </a:rPr>
              <a:t>Top-40 ExtraTrees-selected features nearly match the full model: RMSE 6.0998 vs 6.0574.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090672"/>
            <a:ext cx="2084831" cy="310896"/>
          </a:xfrm>
          <a:prstGeom prst="roundRect">
            <a:avLst/>
          </a:prstGeom>
          <a:solidFill>
            <a:srgbClr val="1C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RNA Count in Middle Region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3090672"/>
            <a:ext cx="2423160" cy="310896"/>
          </a:xfrm>
          <a:prstGeom prst="roundRect">
            <a:avLst/>
          </a:prstGeom>
          <a:solidFill>
            <a:srgbClr val="26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Standard Deviation of Modified Token Positions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547872"/>
            <a:ext cx="1508760" cy="310896"/>
          </a:xfrm>
          <a:prstGeom prst="roundRect">
            <a:avLst/>
          </a:prstGeom>
          <a:solidFill>
            <a:srgbClr val="DB7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rC Token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547872"/>
            <a:ext cx="1508760" cy="310896"/>
          </a:xfrm>
          <a:prstGeom prst="roundRect">
            <a:avLst/>
          </a:prstGeom>
          <a:solidFill>
            <a:srgbClr val="23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LNA Span Fraction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3547872"/>
            <a:ext cx="1234440" cy="310896"/>
          </a:xfrm>
          <a:prstGeom prst="roundRect">
            <a:avLst/>
          </a:prstGeom>
          <a:solidFill>
            <a:srgbClr val="B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U Base 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005072"/>
            <a:ext cx="1783080" cy="310896"/>
          </a:xfrm>
          <a:prstGeom prst="roundRect">
            <a:avLst/>
          </a:prstGeom>
          <a:solidFill>
            <a:srgbClr val="1C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3' Star Modification 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005072"/>
            <a:ext cx="1508760" cy="310896"/>
          </a:xfrm>
          <a:prstGeom prst="roundRect">
            <a:avLst/>
          </a:prstGeom>
          <a:solidFill>
            <a:srgbClr val="26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lG Token Fraction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48672" y="4005072"/>
            <a:ext cx="1234440" cy="310896"/>
          </a:xfrm>
          <a:prstGeom prst="roundRect">
            <a:avLst/>
          </a:prstGeom>
          <a:solidFill>
            <a:srgbClr val="DB7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Longest rU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462272"/>
            <a:ext cx="1508760" cy="310896"/>
          </a:xfrm>
          <a:prstGeom prst="roundRect">
            <a:avLst/>
          </a:prstGeom>
          <a:solidFill>
            <a:srgbClr val="23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Longest lC 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754880"/>
            <a:ext cx="4983480" cy="987552"/>
          </a:xfrm>
          <a:prstGeom prst="roundRect">
            <a:avLst/>
          </a:prstGeom>
          <a:solidFill>
            <a:srgbClr val="F0F3F9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4901184"/>
            <a:ext cx="465429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C8463"/>
                </a:solidFill>
                <a:latin typeface="Aptos"/>
              </a:rPr>
              <a:t>Compact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5230368"/>
            <a:ext cx="4654296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82330"/>
                </a:solidFill>
                <a:latin typeface="Aptos"/>
              </a:rPr>
              <a:t>The 9-feature panel is the best lightweight cross-endpoint explanation set, while the 71-feature HGB remains the best Pass/Fail ranking option.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8229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B697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0996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182330"/>
                </a:solidFill>
                <a:latin typeface="Aptos"/>
              </a:rPr>
              <a:t>Lessons Learned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87552"/>
            <a:ext cx="1078992" cy="54864"/>
          </a:xfrm>
          <a:prstGeom prst="rect">
            <a:avLst/>
          </a:prstGeom>
          <a:solidFill>
            <a:srgbClr val="1C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0">
                <a:solidFill>
                  <a:srgbClr val="5B697A"/>
                </a:solidFill>
                <a:latin typeface="Aptos"/>
              </a:rPr>
              <a:t>The main constraint is rare-fail evidence, not feature availability.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3246120" cy="1143000"/>
          </a:xfrm>
          <a:prstGeom prst="roundRect">
            <a:avLst/>
          </a:prstGeom>
          <a:solidFill>
            <a:srgbClr val="F7EBE8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291693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C8463"/>
                </a:solidFill>
                <a:latin typeface="Aptos"/>
              </a:rPr>
              <a:t>Lesson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2916936" cy="5760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82330"/>
                </a:solidFill>
                <a:latin typeface="Aptos"/>
              </a:rPr>
              <a:t>Rare source Fail labels make ranking metrics more honest than accuracy or default-threshold F1.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417320"/>
            <a:ext cx="3246120" cy="1143000"/>
          </a:xfrm>
          <a:prstGeom prst="roundRect">
            <a:avLst/>
          </a:prstGeom>
          <a:solidFill>
            <a:srgbClr val="EAF4F2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563624"/>
            <a:ext cx="291693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C8463"/>
                </a:solidFill>
                <a:latin typeface="Aptos"/>
              </a:rPr>
              <a:t>Lesson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1892808"/>
            <a:ext cx="2916936" cy="5760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82330"/>
                </a:solidFill>
                <a:latin typeface="Aptos"/>
              </a:rPr>
              <a:t>MainPeak and Need_Review are more learnable because they preserve or derive from stronger purity signal.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417320"/>
            <a:ext cx="3246120" cy="1143000"/>
          </a:xfrm>
          <a:prstGeom prst="roundRect">
            <a:avLst/>
          </a:prstGeom>
          <a:solidFill>
            <a:srgbClr val="F0F3F9"/>
          </a:solidFill>
          <a:ln>
            <a:solidFill>
              <a:srgbClr val="DA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563624"/>
            <a:ext cx="291693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C8463"/>
                </a:solidFill>
                <a:latin typeface="Aptos"/>
              </a:rPr>
              <a:t>Lesson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1892808"/>
            <a:ext cx="2916936" cy="5760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82330"/>
                </a:solidFill>
                <a:latin typeface="Aptos"/>
              </a:rPr>
              <a:t>Compact panels explain cross-endpoint behavior, but 71-feature HGB remains best for source Fail ranking.</a:t>
            </a:r>
          </a:p>
        </p:txBody>
      </p:sp>
      <p:pic>
        <p:nvPicPr>
          <p:cNvPr id="14" name="Picture 13" descr="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35808"/>
            <a:ext cx="5074920" cy="314161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3063240"/>
            <a:ext cx="470916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82330"/>
                </a:solidFill>
                <a:latin typeface="Aptos"/>
              </a:rPr>
              <a:t>Calibrate thresholds against a fixed review budget or target precision.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82330"/>
                </a:solidFill>
                <a:latin typeface="Aptos"/>
              </a:rPr>
              <a:t>Validate on prospective or time-split batches when available.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82330"/>
                </a:solidFill>
                <a:latin typeface="Aptos"/>
              </a:rPr>
              <a:t>Collect more true-Fail and low-MainPeak examples to improve rare-event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B697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